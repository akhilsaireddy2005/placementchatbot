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5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1" y="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2AD3-9CAA-3D13-4676-BE65FF22C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A6BA6-57F0-A103-6EEF-9DCD1415E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DE2FD-6E69-B787-EDD5-DBAB0715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76B1D-2C24-817F-879E-EF1C984A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A81E-21A5-89FE-2237-C8660E98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9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34B8-D0CD-7A1D-48FF-5D68AD32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399E7-09DE-CD09-3B9D-155B4665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EACDA-97F0-343A-CA24-B50EE79A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C418-F159-3026-EE84-DEB500E4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F15FA-5FA6-3472-7403-82B132B4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4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3F64-B886-6485-0D95-70ACAC82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834F8-55FE-2EDC-CADB-212B720D4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3DB2-70E9-04DC-7816-5AFA0114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7241E-DCEB-09A5-5823-7D882C56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8F8C-1675-5C3A-F0BD-33D869FA8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3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608E-AD36-0F27-C9DB-24A103DA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3099-EC1B-D2C3-05A9-76BBEE8BB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D18E1-4EB7-617E-67C4-A56E4DD41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21C4-62EA-77F1-62EF-0BBF7B12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8A16-7820-AB43-AFA0-4EBA131F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91E44-B1F1-50DE-E425-6EA5B582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9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CCC8-8FD0-E510-196B-BF5E8896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7A6BE-1F94-90D2-B69C-D8D3460C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28747-E4D0-EF10-98F5-3A073684B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834FD-E598-D985-D570-AE1080F91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7183F-C33A-4E5F-BB75-701334F3A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36490-2445-655B-3054-9F83BF73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D5D6B-65D3-27D4-CAE9-EFE67AEE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E9A7E-E69A-03A2-40DA-7AB44685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1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B18E-2BE6-3A99-930D-23EB0DAD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5AA06-5071-253F-5ED1-E448FDC9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C6C61-4AA0-A3FE-6A39-497C1638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2B7CD-EA69-8B41-48BE-81CFDF26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4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C319A-7DB7-9897-78EC-F63369DA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0C56-17B6-2789-2583-A96F25F3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78DA-900A-A590-9FE1-515BDD35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5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A282-C60C-EB28-D1B3-0B7D936E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2992-914C-6DAD-8437-94A8A2CF5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56FA0-BE41-AF62-B482-E04F37B37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A4AF9-D7A2-EDC8-FB80-E8961691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55358-1A25-6F66-F864-D8912397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29436-87B3-6BDD-6FD1-CBA43C50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2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B618-92B2-828A-682C-D813E802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DE454-BB1F-1BBE-9731-947244103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6B194-DDE9-27DC-A269-60842CEF8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FAACF-F1F3-6C4A-95F0-9F619C52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D9B8E-F042-513D-115E-67C91F0C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0A6B9-7896-5065-EDA7-432163B0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1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52A3-1A5C-43F3-DCC4-11E11B5A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13477-E94B-801B-EA72-FB24F825A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E578-6D9E-D2E1-B50A-71328A25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DD54-DD59-9728-9E35-3151E686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6D1EE-F3CA-B7C4-6592-2786AD39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E6299-591B-C03D-4528-7CED51552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0F20A-5C6D-0CA3-9CA3-3B497892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5385B-508A-6C5D-0B20-680E1652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6A82-8A7E-1DED-5214-EB0091E3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11F63-D619-F5BD-8341-D6FCA628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5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B0C55-5980-625E-389B-BCC39B78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9DFF3-9E92-E870-C313-5B9F0A8CC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7D7B-7176-9A32-15A0-BE0216DB3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B131C-6749-4F2C-9CDF-6CB99D102B4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0752-80F5-1E98-C076-66C9D4990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72155-A803-C1BE-4421-2F4CE168B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19818-1A50-465B-84E0-064E4CA43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6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EC13DC-30AF-6071-8FE1-E2318E958515}"/>
              </a:ext>
            </a:extLst>
          </p:cNvPr>
          <p:cNvSpPr txBox="1"/>
          <p:nvPr/>
        </p:nvSpPr>
        <p:spPr>
          <a:xfrm>
            <a:off x="443883" y="736847"/>
            <a:ext cx="1015605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Segoe WPC"/>
              </a:rPr>
              <a:t>Title:</a:t>
            </a:r>
            <a:r>
              <a:rPr lang="en-US" sz="2800" b="0" i="0" dirty="0">
                <a:effectLst/>
                <a:latin typeface="Segoe WPC"/>
              </a:rPr>
              <a:t> </a:t>
            </a:r>
            <a:r>
              <a:rPr lang="en-US" sz="2800" b="0" i="0" dirty="0" err="1">
                <a:effectLst/>
                <a:latin typeface="Segoe WPC"/>
              </a:rPr>
              <a:t>PlacementBot</a:t>
            </a:r>
            <a:r>
              <a:rPr lang="en-US" sz="2800" b="0" i="0" dirty="0">
                <a:effectLst/>
                <a:latin typeface="Segoe WPC"/>
              </a:rPr>
              <a:t> - AI-Powered Career Assistant &amp; Resume Analyzer</a:t>
            </a:r>
          </a:p>
          <a:p>
            <a:pPr algn="l">
              <a:buNone/>
            </a:pPr>
            <a:br>
              <a:rPr lang="en-US" sz="2400" b="0" i="0" dirty="0">
                <a:effectLst/>
                <a:latin typeface="Segoe WPC"/>
              </a:rPr>
            </a:br>
            <a:r>
              <a:rPr lang="en-US" sz="2400" b="1" i="0" dirty="0">
                <a:effectLst/>
                <a:latin typeface="Segoe WPC"/>
              </a:rPr>
              <a:t>Subtitle:</a:t>
            </a:r>
            <a:r>
              <a:rPr lang="en-US" sz="2400" b="0" i="0" dirty="0">
                <a:effectLst/>
                <a:latin typeface="Segoe WPC"/>
              </a:rPr>
              <a:t> A MERN Stack Solution for Modern Placement Preparation</a:t>
            </a:r>
          </a:p>
          <a:p>
            <a:pPr algn="l">
              <a:buNone/>
            </a:pPr>
            <a:endParaRPr lang="en-US" sz="2400" b="0" i="0" dirty="0">
              <a:effectLst/>
              <a:latin typeface="Segoe WPC"/>
            </a:endParaRPr>
          </a:p>
          <a:p>
            <a:pPr algn="l">
              <a:buNone/>
            </a:pPr>
            <a:r>
              <a:rPr lang="en-US" sz="2400" b="1" i="0" dirty="0">
                <a:effectLst/>
                <a:latin typeface="Segoe WPC"/>
              </a:rPr>
              <a:t>Key Points:</a:t>
            </a:r>
            <a:endParaRPr lang="en-US" sz="2400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Segoe WPC"/>
              </a:rPr>
              <a:t>Objective:</a:t>
            </a:r>
            <a:r>
              <a:rPr lang="en-US" sz="2400" b="0" i="0" dirty="0">
                <a:effectLst/>
                <a:latin typeface="Segoe WPC"/>
              </a:rPr>
              <a:t> To bridge the gap between academic preparation and industry requirements.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Segoe WPC"/>
              </a:rPr>
              <a:t>Vision:</a:t>
            </a:r>
            <a:r>
              <a:rPr lang="en-US" sz="2400" b="0" i="0" dirty="0">
                <a:effectLst/>
                <a:latin typeface="Segoe WPC"/>
              </a:rPr>
              <a:t> Empowering students with instant AI-driven career guidance.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Segoe WPC"/>
              </a:rPr>
              <a:t>Goal:</a:t>
            </a:r>
            <a:r>
              <a:rPr lang="en-US" sz="2400" b="0" i="0" dirty="0">
                <a:effectLst/>
                <a:latin typeface="Segoe WPC"/>
              </a:rPr>
              <a:t> Automate resume analysis and placement query handling.</a:t>
            </a:r>
          </a:p>
        </p:txBody>
      </p:sp>
    </p:spTree>
    <p:extLst>
      <p:ext uri="{BB962C8B-B14F-4D97-AF65-F5344CB8AC3E}">
        <p14:creationId xmlns:p14="http://schemas.microsoft.com/office/powerpoint/2010/main" val="400983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5DB9CC-71E1-3F46-CEC5-1FC4B9DA4973}"/>
              </a:ext>
            </a:extLst>
          </p:cNvPr>
          <p:cNvSpPr txBox="1"/>
          <p:nvPr/>
        </p:nvSpPr>
        <p:spPr>
          <a:xfrm>
            <a:off x="99872" y="0"/>
            <a:ext cx="10855171" cy="684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Segoe WPC"/>
              </a:rPr>
              <a:t>The Problem:</a:t>
            </a:r>
          </a:p>
          <a:p>
            <a:pPr algn="l">
              <a:buNone/>
            </a:pPr>
            <a:endParaRPr lang="en-US" sz="1100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egoe WPC"/>
              </a:rPr>
              <a:t>Students struggle with resume optimization for ATS (Applicant Tracking Systems).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egoe WPC"/>
              </a:rPr>
              <a:t>Difficulty in finding instant, reliable answers to complex placement-related queries.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egoe WPC"/>
              </a:rPr>
              <a:t>Lack of personalized roadmaps for skill improvement.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4000" dirty="0">
              <a:latin typeface="Segoe WPC"/>
            </a:endParaRPr>
          </a:p>
          <a:p>
            <a:r>
              <a:rPr lang="en-US" sz="2800" b="1" dirty="0"/>
              <a:t>The Solution:</a:t>
            </a:r>
          </a:p>
          <a:p>
            <a:endParaRPr lang="en-US" sz="1400" dirty="0"/>
          </a:p>
          <a:p>
            <a:r>
              <a:rPr lang="en-US" sz="2800" b="1" dirty="0"/>
              <a:t>AI Chatbot:</a:t>
            </a:r>
            <a:r>
              <a:rPr lang="en-US" sz="2800" dirty="0"/>
              <a:t> Integrated with </a:t>
            </a:r>
            <a:r>
              <a:rPr lang="en-US" sz="2800" dirty="0" err="1"/>
              <a:t>Groq</a:t>
            </a:r>
            <a:r>
              <a:rPr lang="en-US" sz="2800" dirty="0"/>
              <a:t> Cloud for real-time interview and career advice.</a:t>
            </a:r>
          </a:p>
          <a:p>
            <a:r>
              <a:rPr lang="en-US" sz="2800" b="1" dirty="0"/>
              <a:t>Resume Analyzer:</a:t>
            </a:r>
            <a:r>
              <a:rPr lang="en-US" sz="2800" dirty="0"/>
              <a:t> Deep text parsing and AI-driven feedback for resume improvement.</a:t>
            </a:r>
          </a:p>
          <a:p>
            <a:r>
              <a:rPr lang="en-US" sz="2800" b="1" dirty="0"/>
              <a:t>Skill Tracking:</a:t>
            </a:r>
            <a:r>
              <a:rPr lang="en-US" sz="2800" dirty="0"/>
              <a:t> Visual analytics to monitor progress and readiness.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6479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A6BE6-DE01-6AB0-F708-0AB0116DFB5A}"/>
              </a:ext>
            </a:extLst>
          </p:cNvPr>
          <p:cNvSpPr txBox="1"/>
          <p:nvPr/>
        </p:nvSpPr>
        <p:spPr>
          <a:xfrm>
            <a:off x="62143" y="213064"/>
            <a:ext cx="119493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Segoe WPC"/>
              </a:rPr>
              <a:t>Core Features Overview</a:t>
            </a:r>
          </a:p>
          <a:p>
            <a:pPr algn="l">
              <a:buNone/>
            </a:pPr>
            <a:endParaRPr lang="en-US" sz="2800" b="0" i="0" dirty="0">
              <a:effectLst/>
              <a:latin typeface="Segoe WPC"/>
            </a:endParaRP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Segoe WPC"/>
              </a:rPr>
              <a:t>Intelligent Chat Interface:</a:t>
            </a:r>
            <a:r>
              <a:rPr lang="en-US" sz="2800" b="0" i="0" dirty="0">
                <a:effectLst/>
                <a:latin typeface="Segoe WPC"/>
              </a:rPr>
              <a:t> Natural language interaction for all placement queries.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Segoe WPC"/>
              </a:rPr>
              <a:t>Resume Scoring &amp; Feedback:</a:t>
            </a:r>
            <a:r>
              <a:rPr lang="en-US" sz="2800" b="0" i="0" dirty="0">
                <a:effectLst/>
                <a:latin typeface="Segoe WPC"/>
              </a:rPr>
              <a:t> Upload PDF/Docx to get an instant "Industry-Readiness" score.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Segoe WPC"/>
              </a:rPr>
              <a:t>Personalized Roadmaps:</a:t>
            </a:r>
            <a:r>
              <a:rPr lang="en-US" sz="2800" b="0" i="0" dirty="0">
                <a:effectLst/>
                <a:latin typeface="Segoe WPC"/>
              </a:rPr>
              <a:t> Dynamic learning paths generated based on resume gaps.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Segoe WPC"/>
              </a:rPr>
              <a:t>Student Analytics Dashboard:</a:t>
            </a:r>
            <a:r>
              <a:rPr lang="en-US" sz="2800" b="0" i="0" dirty="0">
                <a:effectLst/>
                <a:latin typeface="Segoe WPC"/>
              </a:rPr>
              <a:t> Recharts-powered visualization of resume performance.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effectLst/>
                <a:latin typeface="Segoe WPC"/>
              </a:rPr>
              <a:t>Secure User Profiles:</a:t>
            </a:r>
            <a:r>
              <a:rPr lang="en-US" sz="2800" b="0" i="0" dirty="0">
                <a:effectLst/>
                <a:latin typeface="Segoe WPC"/>
              </a:rPr>
              <a:t> Role-based access and profile management.</a:t>
            </a:r>
          </a:p>
        </p:txBody>
      </p:sp>
    </p:spTree>
    <p:extLst>
      <p:ext uri="{BB962C8B-B14F-4D97-AF65-F5344CB8AC3E}">
        <p14:creationId xmlns:p14="http://schemas.microsoft.com/office/powerpoint/2010/main" val="159908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4B19A5-8799-5AD9-187D-0768296A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" y="0"/>
            <a:ext cx="11593903" cy="669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43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57726-1D0A-566E-F817-16ADA7AB9F96}"/>
              </a:ext>
            </a:extLst>
          </p:cNvPr>
          <p:cNvSpPr txBox="1"/>
          <p:nvPr/>
        </p:nvSpPr>
        <p:spPr>
          <a:xfrm>
            <a:off x="115409" y="142043"/>
            <a:ext cx="119670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effectLst/>
                <a:latin typeface="Segoe WPC"/>
              </a:rPr>
              <a:t>Technology Ecosystem (MERN + AI)</a:t>
            </a:r>
          </a:p>
          <a:p>
            <a:pPr algn="l">
              <a:buNone/>
            </a:pPr>
            <a:endParaRPr lang="en-US" sz="3200" b="0" i="0" dirty="0">
              <a:effectLst/>
              <a:latin typeface="Segoe WPC"/>
            </a:endParaRPr>
          </a:p>
          <a:p>
            <a:pPr algn="l">
              <a:buNone/>
            </a:pPr>
            <a:r>
              <a:rPr lang="en-US" sz="3200" b="1" i="0" dirty="0">
                <a:effectLst/>
                <a:latin typeface="Segoe WPC"/>
              </a:rPr>
              <a:t>A Full-Stack Modern Web Architecture:</a:t>
            </a:r>
            <a:endParaRPr lang="en-US" sz="3200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Segoe WPC"/>
              </a:rPr>
              <a:t>Frontend:</a:t>
            </a:r>
            <a:r>
              <a:rPr lang="en-US" sz="3200" b="0" i="0" dirty="0">
                <a:effectLst/>
                <a:latin typeface="Segoe WPC"/>
              </a:rPr>
              <a:t> React.js (v19), Vite, Tailwind CSS, Framer Motion, Recharts.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Segoe WPC"/>
              </a:rPr>
              <a:t>Backend:</a:t>
            </a:r>
            <a:r>
              <a:rPr lang="en-US" sz="3200" b="0" i="0" dirty="0">
                <a:effectLst/>
                <a:latin typeface="Segoe WPC"/>
              </a:rPr>
              <a:t> Node.js, Express.js, RESTful API 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Segoe WPC"/>
              </a:rPr>
              <a:t>Database:</a:t>
            </a:r>
            <a:r>
              <a:rPr lang="en-US" sz="3200" b="0" i="0" dirty="0">
                <a:effectLst/>
                <a:latin typeface="Segoe WPC"/>
              </a:rPr>
              <a:t> MongoDB Atlas with Mongoose ODM for scalable data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Segoe WPC"/>
              </a:rPr>
              <a:t>AI Engine:</a:t>
            </a:r>
            <a:r>
              <a:rPr lang="en-US" sz="3200" b="0" i="0" dirty="0">
                <a:effectLst/>
                <a:latin typeface="Segoe WPC"/>
              </a:rPr>
              <a:t> </a:t>
            </a:r>
            <a:r>
              <a:rPr lang="en-US" sz="3200" b="0" i="0" dirty="0" err="1">
                <a:effectLst/>
                <a:latin typeface="Segoe WPC"/>
              </a:rPr>
              <a:t>Groq</a:t>
            </a:r>
            <a:r>
              <a:rPr lang="en-US" sz="3200" b="0" i="0" dirty="0">
                <a:effectLst/>
                <a:latin typeface="Segoe WPC"/>
              </a:rPr>
              <a:t> Cloud LPU™ (Llama-3 &amp; GPT-OSS models) for near-instant inference.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Segoe WPC"/>
              </a:rPr>
              <a:t>Tools:</a:t>
            </a:r>
            <a:r>
              <a:rPr lang="en-US" sz="3200" b="0" i="0" dirty="0">
                <a:effectLst/>
                <a:latin typeface="Segoe WPC"/>
              </a:rPr>
              <a:t> Multer (Uploads), PDF-Parse/Mammoth (Document Processing), JWT (Security).</a:t>
            </a:r>
          </a:p>
        </p:txBody>
      </p:sp>
    </p:spTree>
    <p:extLst>
      <p:ext uri="{BB962C8B-B14F-4D97-AF65-F5344CB8AC3E}">
        <p14:creationId xmlns:p14="http://schemas.microsoft.com/office/powerpoint/2010/main" val="148381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B8F3D-2076-EFAB-F663-526B6B608654}"/>
              </a:ext>
            </a:extLst>
          </p:cNvPr>
          <p:cNvSpPr txBox="1"/>
          <p:nvPr/>
        </p:nvSpPr>
        <p:spPr>
          <a:xfrm>
            <a:off x="117629" y="22814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egoe WPC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D16DA-D579-DB30-D3D4-52A74B7B7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826" y="712971"/>
            <a:ext cx="8668646" cy="60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6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DFB51-BAAE-9D3F-9313-2E48AD1F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12192000" cy="6810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C1C66-F042-562E-5CE4-1BB06CC4E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989" y="6099027"/>
            <a:ext cx="821652" cy="735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D9380-E3A6-B451-2628-6C5523DAD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233" y="6584890"/>
            <a:ext cx="447737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3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909759-C73A-1C90-41B8-CB52D6C0670D}"/>
              </a:ext>
            </a:extLst>
          </p:cNvPr>
          <p:cNvSpPr txBox="1"/>
          <p:nvPr/>
        </p:nvSpPr>
        <p:spPr>
          <a:xfrm>
            <a:off x="276044" y="207034"/>
            <a:ext cx="11731925" cy="629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Segoe WPC"/>
              </a:rPr>
              <a:t>AI Intelligence: Classification &amp; Regression</a:t>
            </a:r>
          </a:p>
          <a:p>
            <a:pPr algn="l">
              <a:buNone/>
            </a:pPr>
            <a:endParaRPr lang="en-US" sz="2500" b="1" i="0" dirty="0">
              <a:effectLst/>
              <a:latin typeface="Segoe WPC"/>
            </a:endParaRPr>
          </a:p>
          <a:p>
            <a:pPr algn="l">
              <a:buNone/>
            </a:pPr>
            <a:r>
              <a:rPr lang="en-US" sz="2500" b="1" i="0" dirty="0">
                <a:effectLst/>
                <a:latin typeface="Segoe WPC"/>
              </a:rPr>
              <a:t>Core Data Science Concepts in </a:t>
            </a:r>
            <a:r>
              <a:rPr lang="en-US" sz="2500" b="1" i="0" dirty="0" err="1">
                <a:effectLst/>
                <a:latin typeface="Segoe WPC"/>
              </a:rPr>
              <a:t>PlacementBot</a:t>
            </a:r>
            <a:r>
              <a:rPr lang="en-US" sz="2500" b="1" i="0" dirty="0">
                <a:effectLst/>
                <a:latin typeface="Segoe WPC"/>
              </a:rPr>
              <a:t>:</a:t>
            </a:r>
            <a:endParaRPr lang="en-US" sz="2500" b="0" i="0" dirty="0">
              <a:effectLst/>
              <a:latin typeface="Segoe WPC"/>
            </a:endParaRPr>
          </a:p>
          <a:p>
            <a:pPr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Classification (Intent &amp; Tiering):</a:t>
            </a:r>
            <a:endParaRPr lang="en-US" sz="25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Intent Classification:</a:t>
            </a:r>
            <a:r>
              <a:rPr lang="en-US" sz="2500" b="0" i="0" dirty="0">
                <a:effectLst/>
                <a:latin typeface="Segoe WPC"/>
              </a:rPr>
              <a:t> Categorizing 100% of user queries into 7 distinct buckets (e.g., career paths vs. resume tips).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Tier Classification:</a:t>
            </a:r>
            <a:r>
              <a:rPr lang="en-US" sz="2500" b="0" i="0" dirty="0">
                <a:effectLst/>
                <a:latin typeface="Segoe WPC"/>
              </a:rPr>
              <a:t> Multi-class categorization of resumes into 5 distinct levels (Incomplete to Elite).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Skill Mapping:</a:t>
            </a:r>
            <a:r>
              <a:rPr lang="en-US" sz="2500" b="0" i="0" dirty="0">
                <a:effectLst/>
                <a:latin typeface="Segoe WPC"/>
              </a:rPr>
              <a:t> Classifying extracted text into specific "Technical" vs. "Soft" skill labels.</a:t>
            </a:r>
          </a:p>
          <a:p>
            <a:pPr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Regression-Like Tasks (ATS Scoring):</a:t>
            </a:r>
            <a:endParaRPr lang="en-US" sz="25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ATS Score Prediction:</a:t>
            </a:r>
            <a:r>
              <a:rPr lang="en-US" sz="2500" b="0" i="0" dirty="0">
                <a:effectLst/>
                <a:latin typeface="Segoe WPC"/>
              </a:rPr>
              <a:t> Predicting a continuous numerical score (0-100) based on weighted features (Impact, Structure, Depth).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Trend Analysis:</a:t>
            </a:r>
            <a:r>
              <a:rPr lang="en-US" sz="2500" b="0" i="0" dirty="0">
                <a:effectLst/>
                <a:latin typeface="Segoe WPC"/>
              </a:rPr>
              <a:t> Calculating average performance shifts and predicting readiness based on score history.</a:t>
            </a:r>
          </a:p>
          <a:p>
            <a:pPr algn="l">
              <a:buFont typeface="+mj-lt"/>
              <a:buAutoNum type="arabicPeriod"/>
            </a:pPr>
            <a:r>
              <a:rPr lang="en-US" sz="2500" b="1" i="0" dirty="0">
                <a:effectLst/>
                <a:latin typeface="Segoe WPC"/>
              </a:rPr>
              <a:t>Logic Basis:</a:t>
            </a:r>
            <a:r>
              <a:rPr lang="en-US" sz="2500" b="0" i="0" dirty="0">
                <a:effectLst/>
                <a:latin typeface="Segoe WPC"/>
              </a:rPr>
              <a:t> 100-point rubric for objective, consistent evaluation.</a:t>
            </a:r>
          </a:p>
        </p:txBody>
      </p:sp>
    </p:spTree>
    <p:extLst>
      <p:ext uri="{BB962C8B-B14F-4D97-AF65-F5344CB8AC3E}">
        <p14:creationId xmlns:p14="http://schemas.microsoft.com/office/powerpoint/2010/main" val="318492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B05DF-0B32-FA43-8831-D62DA63461E8}"/>
              </a:ext>
            </a:extLst>
          </p:cNvPr>
          <p:cNvSpPr txBox="1"/>
          <p:nvPr/>
        </p:nvSpPr>
        <p:spPr>
          <a:xfrm>
            <a:off x="138022" y="310552"/>
            <a:ext cx="118268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Analysis Workflow</a:t>
            </a:r>
          </a:p>
          <a:p>
            <a:pPr algn="l">
              <a:buNone/>
            </a:pPr>
            <a:endParaRPr lang="en-US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"Brain" Behind </a:t>
            </a:r>
            <a:r>
              <a:rPr lang="en-US" sz="24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PlacementBot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User provides a resume file (PDF/Docx).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Backend uses pdf-parse or mammoth to extract raw text content.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Extracted text is sent to the </a:t>
            </a:r>
            <a:r>
              <a:rPr lang="en-US" sz="24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model with a specialized context-aware prompt.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AI evaluates content based on the industry-standard scoring rubric.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Guideline</a:t>
            </a:r>
            <a:r>
              <a:rPr 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AI generates a specific "Improvement Roadmap" with high-priority learning steps.</a:t>
            </a:r>
          </a:p>
        </p:txBody>
      </p:sp>
    </p:spTree>
    <p:extLst>
      <p:ext uri="{BB962C8B-B14F-4D97-AF65-F5344CB8AC3E}">
        <p14:creationId xmlns:p14="http://schemas.microsoft.com/office/powerpoint/2010/main" val="166172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C903B0-E15D-BAF2-99BC-B1E117764B29}"/>
              </a:ext>
            </a:extLst>
          </p:cNvPr>
          <p:cNvSpPr txBox="1"/>
          <p:nvPr/>
        </p:nvSpPr>
        <p:spPr>
          <a:xfrm>
            <a:off x="293298" y="715992"/>
            <a:ext cx="113782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(Mongoose)</a:t>
            </a:r>
          </a:p>
          <a:p>
            <a:pPr algn="l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Persistence &amp; Modeling: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Schema: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Manages credentials, roles (Student/Admin), and profile metadata.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History Schema: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Maintains persistent message logs for context-aware AI interactions.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Analytics Schema: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Stores historical scores, extracted skills, and personalized feedback.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and JWT-based session management.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24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0E854-31DF-3A87-CE57-C648990F79AA}"/>
              </a:ext>
            </a:extLst>
          </p:cNvPr>
          <p:cNvSpPr txBox="1"/>
          <p:nvPr/>
        </p:nvSpPr>
        <p:spPr>
          <a:xfrm>
            <a:off x="77638" y="172528"/>
            <a:ext cx="1169741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 &amp; Future Scope</a:t>
            </a:r>
          </a:p>
          <a:p>
            <a:pPr algn="l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Impact: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career coaching (24/7 availability).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resume optimization for better ATS passing rates.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to bridge the industry-academic gap.</a:t>
            </a:r>
          </a:p>
          <a:p>
            <a:pPr algn="l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Mock Interviews: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Real-time voice/video simulation.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Aggregator: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Automatic matching of analyzed resumes with live job postings.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Portal: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Peer-to-peer discussion and interview experience sharing.</a:t>
            </a:r>
          </a:p>
        </p:txBody>
      </p:sp>
    </p:spTree>
    <p:extLst>
      <p:ext uri="{BB962C8B-B14F-4D97-AF65-F5344CB8AC3E}">
        <p14:creationId xmlns:p14="http://schemas.microsoft.com/office/powerpoint/2010/main" val="2506579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639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Segoe WPC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Jaggavarapu</dc:creator>
  <cp:lastModifiedBy>Akhil Jaggavarapu</cp:lastModifiedBy>
  <cp:revision>3</cp:revision>
  <dcterms:created xsi:type="dcterms:W3CDTF">2026-03-26T04:19:19Z</dcterms:created>
  <dcterms:modified xsi:type="dcterms:W3CDTF">2026-03-26T05:03:16Z</dcterms:modified>
</cp:coreProperties>
</file>